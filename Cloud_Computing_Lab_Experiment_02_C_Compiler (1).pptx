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AA8F0E-F904-0C29-7E58-1EA8317F934E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  <a:pPr/>
              <a:t>22-08-2026</a:t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  <a:pPr/>
              <a:t>22-08-2026</a:t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26F17E-A98B-B6DC-057C-8546ECF7AE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49C6C6-75B3-A59D-487F-F67AC5CE7967}"/>
              </a:ext>
            </a:extLst>
          </p:cNvPr>
          <p:cNvSpPr txBox="1"/>
          <p:nvPr/>
        </p:nvSpPr>
        <p:spPr>
          <a:xfrm>
            <a:off x="2619740" y="3185468"/>
            <a:ext cx="6578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Times New Roman"/>
              </a:rPr>
              <a:t>Installation of a C Compiler in a Virtual Machine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E3F3CE-0A38-5B04-A5E0-FC851690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571" y="4415141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147CFF-E830-BA67-DABF-02B8AF3A1693}"/>
              </a:ext>
            </a:extLst>
          </p:cNvPr>
          <p:cNvSpPr txBox="1">
            <a:spLocks/>
          </p:cNvSpPr>
          <p:nvPr/>
        </p:nvSpPr>
        <p:spPr>
          <a:xfrm>
            <a:off x="665974" y="4415141"/>
            <a:ext cx="4562669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Mithra B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24CS0524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3C155FE-8E1F-5493-5BFD-9E9E1B54EE9F}"/>
              </a:ext>
            </a:extLst>
          </p:cNvPr>
          <p:cNvSpPr txBox="1">
            <a:spLocks/>
          </p:cNvSpPr>
          <p:nvPr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DFB-9D67-1544-8DCF-2EA05B7B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BDFD-C889-2BA2-AF99-5AE9671A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136"/>
            <a:ext cx="10515600" cy="4951278"/>
          </a:xfrm>
        </p:spPr>
        <p:txBody>
          <a:bodyPr/>
          <a:lstStyle/>
          <a:p>
            <a:pPr marL="571500" lvl="0" indent="-571500">
              <a:spcAft>
                <a:spcPts val="800"/>
              </a:spcAft>
              <a:buFont typeface="+mj-lt"/>
              <a:buAutoNum type="romanUcPeriod"/>
            </a:pPr>
            <a:r>
              <a:rPr sz="2200" b="1">
                <a:solidFill>
                  <a:srgbClr val="191919"/>
                </a:solidFill>
                <a:latin typeface="Times New Roman"/>
              </a:rPr>
              <a:t>Experiment Aim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/>
              </a:rPr>
              <a:t>Virtual Machine &amp; Tools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/>
              </a:rPr>
              <a:t>Install the C Compiler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/>
              </a:rPr>
              <a:t>Write and Save a C Program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/>
              </a:rPr>
              <a:t>Compile the Program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/>
              </a:rPr>
              <a:t>Execute and Verify Output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/>
              </a:rPr>
              <a:t>Result &amp; Key Takeaways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00C09-79CD-D5FF-4B1E-B6109C0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  <a:t>22-08-2026</a:t>
            </a:fld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8C0C3-315E-F140-5B03-3CA67C3F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z="1800" b="1" smtClean="0"/>
              <a:t>2</a:t>
            </a:fld>
            <a:endParaRPr lang="en-IN" sz="18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FA914-8CD2-5FC7-760E-68B5922DF4F7}"/>
              </a:ext>
            </a:extLst>
          </p:cNvPr>
          <p:cNvSpPr txBox="1"/>
          <p:nvPr/>
        </p:nvSpPr>
        <p:spPr>
          <a:xfrm>
            <a:off x="3126658" y="6356350"/>
            <a:ext cx="54839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4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A21A-54F0-4716-29D9-ECF7E9A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 dirty="0">
                <a:solidFill>
                  <a:srgbClr val="191919"/>
                </a:solidFill>
                <a:latin typeface="Times New Roman"/>
              </a:rPr>
              <a:t>EXPERIMENT AIM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BC16-1F6B-7190-668A-D7B311670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70" y="1250302"/>
            <a:ext cx="7299950" cy="4926661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/>
              </a:rPr>
              <a:t>Ex. No: 02 — Virtual Machine – C Compiler</a:t>
            </a:r>
          </a:p>
          <a:p>
            <a:pPr>
              <a:spcAft>
                <a:spcPts val="300"/>
              </a:spcAft>
            </a:pPr>
            <a:endParaRPr sz="2000" b="1" dirty="0">
              <a:solidFill>
                <a:srgbClr val="191919"/>
              </a:solidFill>
              <a:latin typeface="Times New Roman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/>
              </a:rPr>
              <a:t> AIM</a:t>
            </a: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191919"/>
                </a:solidFill>
                <a:latin typeface="Times New Roman"/>
              </a:rPr>
              <a:t>Install a C compiler in the virtual machine created using a virtual box and execute simple </a:t>
            </a:r>
            <a:r>
              <a:rPr sz="1550" b="0" dirty="0" err="1">
                <a:solidFill>
                  <a:srgbClr val="191919"/>
                </a:solidFill>
                <a:latin typeface="Times New Roman"/>
              </a:rPr>
              <a:t>progra</a:t>
            </a:r>
            <a:r>
              <a:rPr lang="en-IN" sz="1550" b="0" dirty="0">
                <a:solidFill>
                  <a:srgbClr val="191919"/>
                </a:solidFill>
                <a:latin typeface="Times New Roman"/>
              </a:rPr>
              <a:t>m</a:t>
            </a:r>
            <a:r>
              <a:rPr sz="1550" b="0" dirty="0" err="1">
                <a:solidFill>
                  <a:srgbClr val="191919"/>
                </a:solidFill>
                <a:latin typeface="Times New Roman"/>
              </a:rPr>
              <a:t>ms.</a:t>
            </a:r>
            <a:endParaRPr sz="1550" b="0" dirty="0">
              <a:solidFill>
                <a:srgbClr val="191919"/>
              </a:solidFill>
              <a:latin typeface="Times New Roman"/>
            </a:endParaRPr>
          </a:p>
          <a:p>
            <a:pPr>
              <a:spcAft>
                <a:spcPts val="300"/>
              </a:spcAft>
            </a:pPr>
            <a:endParaRPr sz="1550" b="0" dirty="0">
              <a:solidFill>
                <a:srgbClr val="191919"/>
              </a:solidFill>
              <a:latin typeface="Times New Roman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/>
              </a:rPr>
              <a:t>WHAT WE WILL ACHIEVE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/>
              </a:rPr>
              <a:t>• Start the guest virtual machine.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/>
              </a:rPr>
              <a:t>• Install the compiler toolchain and GCC libraries.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/>
              </a:rPr>
              <a:t>• Create a C source file inside the guest system.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/>
              </a:rPr>
              <a:t>• Compile the source file using cc.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/>
              </a:rPr>
              <a:t>• Execute the generated program and verify the output.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D0B-5AED-6801-2D16-ECDF811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F410-956F-797B-C0DC-A65953A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 descr="p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123" y="81684"/>
            <a:ext cx="4549877" cy="64111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8B3B44-5BA8-FE2B-88DB-9B8875912574}"/>
              </a:ext>
            </a:extLst>
          </p:cNvPr>
          <p:cNvSpPr txBox="1"/>
          <p:nvPr/>
        </p:nvSpPr>
        <p:spPr>
          <a:xfrm>
            <a:off x="3126658" y="6422509"/>
            <a:ext cx="54839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552A-DD7E-C870-2848-05C452A8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88" y="-177995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/>
              </a:rPr>
              <a:t>VIRTUAL MACHINE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B22B-6F5D-B030-3C63-4F787F896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015" y="855241"/>
            <a:ext cx="10515600" cy="4351338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2000" b="1">
                <a:solidFill>
                  <a:srgbClr val="191919"/>
                </a:solidFill>
                <a:latin typeface="Times New Roman"/>
              </a:rPr>
              <a:t>LAB ENVIRONMENT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/>
              </a:rPr>
              <a:t>1. VMware Player / Workstation — hosts the virtual machine.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/>
              </a:rPr>
              <a:t>2. CorePlus guest OS — the Linux-based environment used in the manual.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/>
              </a:rPr>
              <a:t>3. Terminal — used to install the compiler and run commands.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/>
              </a:rPr>
              <a:t>4. compiletc package — installs the compiler toolchain and GCC libraries.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/>
              </a:rPr>
              <a:t>5. Text editor — used to create and save the .c source file.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/>
              </a:rPr>
              <a:t>6. cc compiler — converts the C source into an executable program.</a:t>
            </a:r>
          </a:p>
          <a:p>
            <a:pPr>
              <a:spcAft>
                <a:spcPts val="500"/>
              </a:spcAft>
            </a:pPr>
            <a:endParaRPr sz="1700" b="0">
              <a:solidFill>
                <a:srgbClr val="191919"/>
              </a:solidFill>
              <a:latin typeface="Times New Roman"/>
            </a:endParaRP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191919"/>
                </a:solidFill>
                <a:latin typeface="Times New Roman"/>
              </a:rPr>
              <a:t>FLOW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/>
              </a:rPr>
              <a:t>Host Windows → VMware → CorePlus VM → Terminal → C Compiler → Executable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06D-30F6-E67B-43F9-DB22E880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24C85-3C17-DC37-61A2-ECEFC845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4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67128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VMWARE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825496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COREPLUS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483864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TERMINAL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142232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GCC / CC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156EBD-9A14-6BE9-C381-0F354C4ADFCA}"/>
              </a:ext>
            </a:extLst>
          </p:cNvPr>
          <p:cNvSpPr txBox="1"/>
          <p:nvPr/>
        </p:nvSpPr>
        <p:spPr>
          <a:xfrm>
            <a:off x="3165988" y="6352143"/>
            <a:ext cx="54446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5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5E14-EA18-75E4-82E3-E9F711D0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59" y="0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/>
              </a:rPr>
              <a:t>INSTALL THE C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11AE-698A-DA77-2583-697C35776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46" y="1178686"/>
            <a:ext cx="11226281" cy="5007510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900" b="1">
                <a:solidFill>
                  <a:srgbClr val="191919"/>
                </a:solidFill>
                <a:latin typeface="Times New Roman"/>
              </a:rPr>
              <a:t>STEP-BY-STEP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/>
              </a:rPr>
              <a:t>1. Install the VMware player and host the Virtual Machine (CorePlus).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/>
              </a:rPr>
              <a:t>2. Open VMware Workstation and power on the virtual machine.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/>
              </a:rPr>
              <a:t>3. After the guest OS loads, open the Terminal.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/>
              </a:rPr>
              <a:t>4. Type the installation command: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91919"/>
              </a:solidFill>
              <a:latin typeface="Times New Roman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Courier New"/>
              </a:rPr>
              <a:t>   tc@box:~$ tce-load -wi compiletc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91919"/>
              </a:solidFill>
              <a:latin typeface="Courier New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/>
              </a:rPr>
              <a:t>5. Wait for the compiler package and required libraries to finish installing.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/>
              </a:rPr>
              <a:t>6. When installation completes, the terminal returns to the prompt.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91919"/>
              </a:solidFill>
              <a:latin typeface="Times New Roman"/>
            </a:endParaR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91919"/>
                </a:solidFill>
                <a:latin typeface="Times New Roman"/>
              </a:rPr>
              <a:t>CHECKPOINT ✓  The compiler toolchain is now available inside the guest VM.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164-9C7D-856D-0012-ACDBF3D9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2D70-72E1-C1D5-E61F-5BC43FE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 descr="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143000"/>
            <a:ext cx="3246120" cy="4297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D3E3D4-5594-FADF-9C02-52E17DF773AE}"/>
              </a:ext>
            </a:extLst>
          </p:cNvPr>
          <p:cNvSpPr txBox="1"/>
          <p:nvPr/>
        </p:nvSpPr>
        <p:spPr>
          <a:xfrm>
            <a:off x="3224981" y="6356350"/>
            <a:ext cx="538561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23DE-006A-6D21-7A1B-81100D67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04" y="-204042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/>
              </a:rPr>
              <a:t>CREATE, COMPILE &amp; RUN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691205-8611-66B9-BCA6-A6B3671481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403912"/>
              </p:ext>
            </p:extLst>
          </p:nvPr>
        </p:nvGraphicFramePr>
        <p:xfrm>
          <a:off x="685799" y="2428294"/>
          <a:ext cx="7140677" cy="317697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877586">
                  <a:extLst>
                    <a:ext uri="{9D8B030D-6E8A-4147-A177-3AD203B41FA5}">
                      <a16:colId xmlns:a16="http://schemas.microsoft.com/office/drawing/2014/main" val="2451508609"/>
                    </a:ext>
                  </a:extLst>
                </a:gridCol>
                <a:gridCol w="4263091">
                  <a:extLst>
                    <a:ext uri="{9D8B030D-6E8A-4147-A177-3AD203B41FA5}">
                      <a16:colId xmlns:a16="http://schemas.microsoft.com/office/drawing/2014/main" val="1418082615"/>
                    </a:ext>
                  </a:extLst>
                </a:gridCol>
              </a:tblGrid>
              <a:tr h="369416">
                <a:tc>
                  <a:txBody>
                    <a:bodyPr/>
                    <a:lstStyle/>
                    <a:p>
                      <a:r>
                        <a:rPr sz="1400" b="1"/>
                        <a:t>COMMAND / ACTION</a:t>
                      </a:r>
                      <a:endParaRPr sz="1400" b="1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PURPOSE</a:t>
                      </a:r>
                      <a:endParaRPr sz="1400" b="1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184178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sudo editor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Open the text editor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843403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 dirty="0"/>
                        <a:t>Save as </a:t>
                      </a:r>
                      <a:r>
                        <a:rPr sz="1300" b="0" dirty="0" err="1"/>
                        <a:t>demo.c</a:t>
                      </a:r>
                      <a:endParaRPr sz="1300" b="0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Store the C source with .c extension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644910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CTRL + Q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Exit editor and return to terminal</a:t>
                      </a:r>
                      <a:endParaRPr sz="1300" b="0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148827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cc demo.c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Compile the C source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460110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./a.out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Run the compiled program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210515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Enter year: 1991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Sample input shown in the manual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04780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1991 is not a Leap Year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Sample output shown in the manual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201821"/>
                  </a:ext>
                </a:extLst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Prompt returns</a:t>
                      </a:r>
                      <a:endParaRPr sz="1300" b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Program execution is complete</a:t>
                      </a:r>
                      <a:endParaRPr sz="1300" b="0" dirty="0"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72721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0EA2-B122-4403-A7C4-12DC3296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FBCF-98C0-5B59-27EC-1F608198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3D7E5-6E98-8FEA-690C-9512D0ED5BD7}"/>
              </a:ext>
            </a:extLst>
          </p:cNvPr>
          <p:cNvSpPr txBox="1"/>
          <p:nvPr/>
        </p:nvSpPr>
        <p:spPr>
          <a:xfrm>
            <a:off x="685800" y="1078992"/>
            <a:ext cx="61264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EXECUTION CYCLE</a:t>
            </a:r>
          </a:p>
          <a:p>
            <a:endParaRPr sz="1200" b="0" dirty="0">
              <a:solidFill>
                <a:srgbClr val="191919"/>
              </a:solidFill>
              <a:latin typeface="Times New Roman"/>
            </a:endParaRPr>
          </a:p>
          <a:p>
            <a:r>
              <a:rPr sz="1200" b="0" dirty="0">
                <a:solidFill>
                  <a:srgbClr val="191919"/>
                </a:solidFill>
                <a:latin typeface="Times New Roman"/>
              </a:rPr>
              <a:t>Write → Save → Compile → Run → Observe Output</a:t>
            </a:r>
          </a:p>
          <a:p>
            <a:endParaRPr sz="1200" b="0" dirty="0">
              <a:solidFill>
                <a:srgbClr val="191919"/>
              </a:solidFill>
              <a:latin typeface="Times New Roman"/>
            </a:endParaRPr>
          </a:p>
          <a:p>
            <a:r>
              <a:rPr sz="1200" b="0" dirty="0">
                <a:solidFill>
                  <a:srgbClr val="191919"/>
                </a:solidFill>
                <a:latin typeface="Times New Roman"/>
              </a:rPr>
              <a:t>The manual uses a simple leap-year C program to demonstrate that the compiler and executable are working correctly.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DA7CC-22A6-31A1-9FE5-4E3994AB2640}"/>
              </a:ext>
            </a:extLst>
          </p:cNvPr>
          <p:cNvSpPr txBox="1"/>
          <p:nvPr/>
        </p:nvSpPr>
        <p:spPr>
          <a:xfrm>
            <a:off x="8763001" y="2724120"/>
            <a:ext cx="2743200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C SOURCE</a:t>
            </a:r>
            <a:endParaRPr lang="en-IN" dirty="0"/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↓</a:t>
            </a: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cc </a:t>
            </a:r>
            <a:r>
              <a:rPr sz="1800" b="1" dirty="0" err="1">
                <a:solidFill>
                  <a:srgbClr val="191919"/>
                </a:solidFill>
                <a:latin typeface="Times New Roman"/>
              </a:rPr>
              <a:t>demo.c</a:t>
            </a:r>
            <a:endParaRPr sz="1800" b="1" dirty="0">
              <a:solidFill>
                <a:srgbClr val="191919"/>
              </a:solidFill>
              <a:latin typeface="Times New Roman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↓</a:t>
            </a:r>
          </a:p>
          <a:p>
            <a:pPr algn="ctr"/>
            <a:r>
              <a:rPr sz="1800" b="1" dirty="0" err="1">
                <a:solidFill>
                  <a:srgbClr val="191919"/>
                </a:solidFill>
                <a:latin typeface="Times New Roman"/>
              </a:rPr>
              <a:t>a.out</a:t>
            </a:r>
            <a:endParaRPr sz="1800" b="1" dirty="0">
              <a:solidFill>
                <a:srgbClr val="191919"/>
              </a:solidFill>
              <a:latin typeface="Times New Roman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↓</a:t>
            </a: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./</a:t>
            </a:r>
            <a:r>
              <a:rPr sz="1800" b="1" dirty="0" err="1">
                <a:solidFill>
                  <a:srgbClr val="191919"/>
                </a:solidFill>
                <a:latin typeface="Times New Roman"/>
              </a:rPr>
              <a:t>a.out</a:t>
            </a:r>
            <a:endParaRPr sz="1800" b="1" dirty="0">
              <a:solidFill>
                <a:srgbClr val="191919"/>
              </a:solidFill>
              <a:latin typeface="Times New Roman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↓</a:t>
            </a: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/>
              </a:rPr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D7ECD-7C82-4B84-9200-47EF6E2299B9}"/>
              </a:ext>
            </a:extLst>
          </p:cNvPr>
          <p:cNvSpPr txBox="1"/>
          <p:nvPr/>
        </p:nvSpPr>
        <p:spPr>
          <a:xfrm>
            <a:off x="3175819" y="6440129"/>
            <a:ext cx="55552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A2C7-ECE5-50A2-EA22-8CB925FA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0672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/>
              </a:rPr>
              <a:t>EXECUTE &amp; VERIFY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0263-EAE1-004B-AFE4-F952EC819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39" y="939077"/>
            <a:ext cx="10971245" cy="4842685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/>
              </a:rPr>
              <a:t>RUN THE PROGRAM</a:t>
            </a: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/>
              </a:rPr>
              <a:t>1. Open the terminal after compilation.</a:t>
            </a: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/>
              </a:rPr>
              <a:t>2. Execute the generated program:</a:t>
            </a:r>
          </a:p>
          <a:p>
            <a:pPr>
              <a:spcAft>
                <a:spcPts val="400"/>
              </a:spcAft>
            </a:pPr>
            <a:endParaRPr sz="1700" b="0" dirty="0">
              <a:solidFill>
                <a:srgbClr val="191919"/>
              </a:solidFill>
              <a:latin typeface="Times New Roman"/>
            </a:endParaRP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Courier New"/>
              </a:rPr>
              <a:t>   </a:t>
            </a:r>
            <a:r>
              <a:rPr sz="1700" b="0" dirty="0" err="1">
                <a:solidFill>
                  <a:srgbClr val="191919"/>
                </a:solidFill>
                <a:latin typeface="Courier New"/>
              </a:rPr>
              <a:t>tc@box</a:t>
            </a:r>
            <a:r>
              <a:rPr sz="1700" b="0" dirty="0">
                <a:solidFill>
                  <a:srgbClr val="191919"/>
                </a:solidFill>
                <a:latin typeface="Courier New"/>
              </a:rPr>
              <a:t>:~$ ./</a:t>
            </a:r>
            <a:r>
              <a:rPr sz="1700" b="0" dirty="0" err="1">
                <a:solidFill>
                  <a:srgbClr val="191919"/>
                </a:solidFill>
                <a:latin typeface="Courier New"/>
              </a:rPr>
              <a:t>a.out</a:t>
            </a:r>
            <a:endParaRPr sz="1700" b="0" dirty="0">
              <a:solidFill>
                <a:srgbClr val="191919"/>
              </a:solidFill>
              <a:latin typeface="Courier New"/>
            </a:endParaRPr>
          </a:p>
          <a:p>
            <a:pPr>
              <a:spcAft>
                <a:spcPts val="400"/>
              </a:spcAft>
            </a:pPr>
            <a:endParaRPr sz="1700" b="0" dirty="0">
              <a:solidFill>
                <a:srgbClr val="191919"/>
              </a:solidFill>
              <a:latin typeface="Courier New"/>
            </a:endParaRP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/>
              </a:rPr>
              <a:t>3. Enter the requested value when prompted.</a:t>
            </a: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/>
              </a:rPr>
              <a:t>4. Observe the program response in the terminal.</a:t>
            </a:r>
          </a:p>
          <a:p>
            <a:pPr>
              <a:spcAft>
                <a:spcPts val="400"/>
              </a:spcAft>
            </a:pPr>
            <a:r>
              <a:rPr sz="2000" b="1" dirty="0">
                <a:solidFill>
                  <a:srgbClr val="191919"/>
                </a:solidFill>
                <a:latin typeface="Times New Roman"/>
              </a:rPr>
              <a:t>VERIFICATION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dirty="0">
                <a:solidFill>
                  <a:srgbClr val="191919"/>
                </a:solidFill>
                <a:latin typeface="Times New Roman"/>
              </a:rPr>
              <a:t>✓ The C source compiled without blocking errors.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dirty="0">
                <a:solidFill>
                  <a:srgbClr val="191919"/>
                </a:solidFill>
                <a:latin typeface="Times New Roman"/>
              </a:rPr>
              <a:t>✓ The executable launches from the terminal.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dirty="0">
                <a:solidFill>
                  <a:srgbClr val="191919"/>
                </a:solidFill>
                <a:latin typeface="Times New Roman"/>
              </a:rPr>
              <a:t>✓ The sample run displays: 1991 is not a Leap Year.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FC9-5D5E-D1B8-5BD7-65EC6B92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8D311-C9E8-1065-7BFB-9C33AE21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 descr="p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234440"/>
            <a:ext cx="3337560" cy="4251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9EF14-EB3E-A18A-5BC7-012220C950E9}"/>
              </a:ext>
            </a:extLst>
          </p:cNvPr>
          <p:cNvSpPr txBox="1"/>
          <p:nvPr/>
        </p:nvSpPr>
        <p:spPr>
          <a:xfrm>
            <a:off x="3254477" y="6430297"/>
            <a:ext cx="535612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35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F20F-996C-75D3-233A-2CF65D06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984" y="-129397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/>
              </a:rPr>
              <a:t>INTERACTIVE LAB WORKFLOW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1946-9482-8F30-D61C-AD0D89B1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551A6-385B-4923-FAE3-BAA471D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3E410-1929-FE1F-B202-C4A76F613E62}"/>
              </a:ext>
            </a:extLst>
          </p:cNvPr>
          <p:cNvSpPr txBox="1"/>
          <p:nvPr/>
        </p:nvSpPr>
        <p:spPr>
          <a:xfrm>
            <a:off x="3291840" y="6390968"/>
            <a:ext cx="53187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0CAAFF-F9DF-C922-69F4-6176BD7B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872613"/>
            <a:ext cx="9497961" cy="47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E1D2-B273-DF0C-5304-A3CB9ED4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984" y="18255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/>
              </a:rPr>
              <a:t>RESULT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BED5-A124-2853-21A8-DA47BBEFE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" y="1343608"/>
            <a:ext cx="10377505" cy="4833355"/>
          </a:xfrm>
        </p:spPr>
        <p:txBody>
          <a:bodyPr wrap="square">
            <a:normAutofit fontScale="92500" lnSpcReduction="20000"/>
          </a:bodyPr>
          <a:lstStyle/>
          <a:p>
            <a:pPr marL="0" lvl="0" indent="0">
              <a:spcAft>
                <a:spcPts val="400"/>
              </a:spcAft>
              <a:buNone/>
            </a:pPr>
            <a:r>
              <a:rPr sz="1900" b="1" dirty="0">
                <a:solidFill>
                  <a:srgbClr val="191919"/>
                </a:solidFill>
                <a:latin typeface="Times New Roman"/>
              </a:rPr>
              <a:t>RESULT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Thus the installation of a C compiler in the virtual machine created using a virtual box and execution of simple programs were completed successfully.</a:t>
            </a:r>
          </a:p>
          <a:p>
            <a:pPr>
              <a:spcAft>
                <a:spcPts val="400"/>
              </a:spcAft>
            </a:pPr>
            <a:endParaRPr sz="1600" b="0" dirty="0">
              <a:solidFill>
                <a:srgbClr val="191919"/>
              </a:solidFill>
              <a:latin typeface="Times New Roman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900" b="1" dirty="0">
                <a:solidFill>
                  <a:srgbClr val="191919"/>
                </a:solidFill>
                <a:latin typeface="Times New Roman"/>
              </a:rPr>
              <a:t>KEY TAKEAWAYS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900" b="1" dirty="0">
                <a:solidFill>
                  <a:srgbClr val="191919"/>
                </a:solidFill>
                <a:latin typeface="Times New Roman"/>
              </a:rPr>
              <a:t>• A virtual machine provides the guest environment for development.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• </a:t>
            </a:r>
            <a:r>
              <a:rPr sz="1600" b="0" dirty="0" err="1">
                <a:solidFill>
                  <a:srgbClr val="191919"/>
                </a:solidFill>
                <a:latin typeface="Times New Roman"/>
              </a:rPr>
              <a:t>compiletc</a:t>
            </a:r>
            <a:r>
              <a:rPr sz="1600" b="0" dirty="0">
                <a:solidFill>
                  <a:srgbClr val="191919"/>
                </a:solidFill>
                <a:latin typeface="Times New Roman"/>
              </a:rPr>
              <a:t> installs the compiler toolchain and GCC libraries.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• A C source file is saved with the .c extension.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• cc </a:t>
            </a:r>
            <a:r>
              <a:rPr sz="1600" b="0" dirty="0" err="1">
                <a:solidFill>
                  <a:srgbClr val="191919"/>
                </a:solidFill>
                <a:latin typeface="Times New Roman"/>
              </a:rPr>
              <a:t>filename.c</a:t>
            </a:r>
            <a:r>
              <a:rPr sz="1600" b="0" dirty="0">
                <a:solidFill>
                  <a:srgbClr val="191919"/>
                </a:solidFill>
                <a:latin typeface="Times New Roman"/>
              </a:rPr>
              <a:t> compiles the program.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• ./</a:t>
            </a:r>
            <a:r>
              <a:rPr sz="1600" b="0" dirty="0" err="1">
                <a:solidFill>
                  <a:srgbClr val="191919"/>
                </a:solidFill>
                <a:latin typeface="Times New Roman"/>
              </a:rPr>
              <a:t>a.out</a:t>
            </a:r>
            <a:r>
              <a:rPr sz="1600" b="0" dirty="0">
                <a:solidFill>
                  <a:srgbClr val="191919"/>
                </a:solidFill>
                <a:latin typeface="Times New Roman"/>
              </a:rPr>
              <a:t> executes the compiled program.</a:t>
            </a:r>
          </a:p>
          <a:p>
            <a:pPr>
              <a:spcAft>
                <a:spcPts val="400"/>
              </a:spcAft>
            </a:pPr>
            <a:endParaRPr sz="1600" b="0" dirty="0">
              <a:solidFill>
                <a:srgbClr val="191919"/>
              </a:solidFill>
              <a:latin typeface="Times New Roman"/>
            </a:endParaRPr>
          </a:p>
          <a:p>
            <a:pPr>
              <a:spcAft>
                <a:spcPts val="400"/>
              </a:spcAft>
            </a:pPr>
            <a:r>
              <a:rPr sz="1900" b="1" dirty="0">
                <a:solidFill>
                  <a:srgbClr val="191919"/>
                </a:solidFill>
                <a:latin typeface="Times New Roman"/>
              </a:rPr>
              <a:t>QUICK CHECK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What is the purpose of  cc </a:t>
            </a:r>
            <a:r>
              <a:rPr sz="1600" b="0" dirty="0" err="1">
                <a:solidFill>
                  <a:srgbClr val="191919"/>
                </a:solidFill>
                <a:latin typeface="Times New Roman"/>
              </a:rPr>
              <a:t>demo.c</a:t>
            </a:r>
            <a:r>
              <a:rPr sz="1600" b="0" dirty="0">
                <a:solidFill>
                  <a:srgbClr val="191919"/>
                </a:solidFill>
                <a:latin typeface="Times New Roman"/>
              </a:rPr>
              <a:t> ?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91919"/>
                </a:solidFill>
                <a:latin typeface="Times New Roman"/>
              </a:rPr>
              <a:t>Answer: It compiles the C source file into an executable program.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3BD1-05A0-C114-3824-A22E1DE1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F5297-F9B2-43BC-E08D-83131C1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 descr="p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011680"/>
            <a:ext cx="3154680" cy="3611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B834CF-6940-4A0C-07C2-97F16B777B28}"/>
              </a:ext>
            </a:extLst>
          </p:cNvPr>
          <p:cNvSpPr txBox="1"/>
          <p:nvPr/>
        </p:nvSpPr>
        <p:spPr>
          <a:xfrm>
            <a:off x="3185653" y="6352143"/>
            <a:ext cx="54249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227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PresentationFormat>Widescreen</PresentationFormat>
  <Paragraphs>135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CONTENTS</vt:lpstr>
      <vt:lpstr>EXPERIMENT AIM</vt:lpstr>
      <vt:lpstr>VIRTUAL MACHINE &amp; TOOLS</vt:lpstr>
      <vt:lpstr>INSTALL THE C COMPILER</vt:lpstr>
      <vt:lpstr>CREATE, COMPILE &amp; RUN</vt:lpstr>
      <vt:lpstr>EXECUTE &amp; VERIFY OUTPUT</vt:lpstr>
      <vt:lpstr>INTERACTIVE LAB WORKFLOW</vt:lpstr>
      <vt:lpstr>RESULT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hik iho</cp:lastModifiedBy>
  <cp:revision>2</cp:revision>
  <dcterms:modified xsi:type="dcterms:W3CDTF">2026-08-22T14:56:35Z</dcterms:modified>
</cp:coreProperties>
</file>