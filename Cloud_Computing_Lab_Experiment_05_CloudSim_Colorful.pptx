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07-08-2026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07-08-2026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07-08-2026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2.xml"/><Relationship Id="rId3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" Target="slide3.xml"/><Relationship Id="rId5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" Target="slide4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" Target="slide5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" Target="slide6.xml"/><Relationship Id="rId6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7.xml"/><Relationship Id="rId4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slide" Target="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8720" y="105156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42B5C"/>
                </a:solidFill>
                <a:latin typeface="Aptos"/>
              </a:rPr>
              <a:t>Department of Computer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00200"/>
            <a:ext cx="8595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6446C8"/>
                </a:solidFill>
                <a:latin typeface="Aptos"/>
              </a:rPr>
              <a:t>CLOUD COMPUTING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0" y="2331720"/>
            <a:ext cx="6035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8C23"/>
                </a:solidFill>
                <a:latin typeface="Aptos"/>
              </a:rPr>
              <a:t>EXPERIMENT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880360"/>
            <a:ext cx="9966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382E6"/>
                </a:solidFill>
                <a:latin typeface="Aptos"/>
              </a:rPr>
              <a:t>Simulate a Cloud Scenario Using CloudSim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22191"/>
            <a:ext cx="8595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696E7D"/>
                </a:solidFill>
                <a:latin typeface="Aptos"/>
              </a:rPr>
              <a:t>CloudSim setup • Eclipse • Project configuration • Execution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4709160"/>
            <a:ext cx="438912" cy="438912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3200" y="4709160"/>
            <a:ext cx="438912" cy="438912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4709160"/>
            <a:ext cx="438912" cy="438912"/>
          </a:xfrm>
          <a:prstGeom prst="ellipse">
            <a:avLst/>
          </a:prstGeom>
          <a:solidFill>
            <a:srgbClr val="1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75520" y="4709160"/>
            <a:ext cx="438912" cy="438912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212080"/>
            <a:ext cx="9326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3232D"/>
                </a:solidFill>
                <a:latin typeface="Aptos"/>
              </a:rPr>
              <a:t>Aim: Simulate a cloud scenario using CloudSim and run a scheduling algorithm that is not present in CloudSim.</a:t>
            </a:r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C09-79CD-D5FF-4B1E-B6109C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  <a:t>07-08-2026</a:t>
            </a:fld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8C0C3-315E-F140-5B03-3CA67C3F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  <a:t>2</a:t>
            </a:fld>
            <a:endParaRPr lang="en-IN" sz="1800" b="1"/>
          </a:p>
        </p:txBody>
      </p:sp>
      <p:sp>
        <p:nvSpPr>
          <p:cNvPr id="6" name="TextBox 5"/>
          <p:cNvSpPr txBox="1"/>
          <p:nvPr/>
        </p:nvSpPr>
        <p:spPr>
          <a:xfrm>
            <a:off x="3657600" y="164592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6446C8"/>
                </a:solidFill>
                <a:latin typeface="Aptos"/>
              </a:rPr>
              <a:t>CONTENTS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143000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143000"/>
            <a:ext cx="489204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307592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34416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7" y="1307592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Aim &amp;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856232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143000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143000"/>
            <a:ext cx="4892040" cy="109728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307592"/>
            <a:ext cx="502920" cy="502920"/>
          </a:xfrm>
          <a:prstGeom prst="ellipse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34416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1307592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82E6"/>
                </a:solidFill>
                <a:latin typeface="Aptos"/>
              </a:rPr>
              <a:t>Download Eclipse &amp; CloudSim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1856232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221991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2221991"/>
            <a:ext cx="489204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2386584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7" y="2386584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Create the CloudSim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2935224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221991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2221991"/>
            <a:ext cx="489204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65392" y="2386584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4231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8" y="2386584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Add External JAR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2935224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300984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3300984"/>
            <a:ext cx="489204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2" y="3465576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3502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7" y="3465576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Configure &amp;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" y="4014215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300984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3300984"/>
            <a:ext cx="4892040" cy="109728"/>
          </a:xfrm>
          <a:prstGeom prst="roundRect">
            <a:avLst/>
          </a:prstGeom>
          <a:solidFill>
            <a:srgbClr val="1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65392" y="3465576"/>
            <a:ext cx="502920" cy="502920"/>
          </a:xfrm>
          <a:prstGeom prst="ellipse">
            <a:avLst/>
          </a:prstGeom>
          <a:solidFill>
            <a:srgbClr val="1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5392" y="350215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3465576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B4BE"/>
                </a:solidFill>
                <a:latin typeface="Aptos"/>
              </a:rPr>
              <a:t>Run CloudSimExample1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4014215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379976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4400" y="4379976"/>
            <a:ext cx="4892040" cy="109728"/>
          </a:xfrm>
          <a:prstGeom prst="roundRect">
            <a:avLst/>
          </a:prstGeom>
          <a:solidFill>
            <a:srgbClr val="F5B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78992" y="4544568"/>
            <a:ext cx="502920" cy="502920"/>
          </a:xfrm>
          <a:prstGeom prst="ellipse">
            <a:avLst/>
          </a:prstGeom>
          <a:solidFill>
            <a:srgbClr val="F5B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" y="458114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64207" y="4544568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BE2D"/>
                </a:solidFill>
                <a:latin typeface="Aptos"/>
              </a:rPr>
              <a:t>Output &amp; Result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" y="5093208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379976"/>
            <a:ext cx="48920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4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400800" y="4379976"/>
            <a:ext cx="4892040" cy="109728"/>
          </a:xfrm>
          <a:prstGeom prst="roundRect">
            <a:avLst/>
          </a:prstGeom>
          <a:solidFill>
            <a:srgbClr val="24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565392" y="4544568"/>
            <a:ext cx="502920" cy="502920"/>
          </a:xfrm>
          <a:prstGeom prst="ellipse">
            <a:avLst/>
          </a:prstGeom>
          <a:solidFill>
            <a:srgbClr val="24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65392" y="4581144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0608" y="4544568"/>
            <a:ext cx="397763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42B5C"/>
                </a:solidFill>
                <a:latin typeface="Aptos"/>
              </a:rPr>
              <a:t>Interactive Workflow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5093208"/>
            <a:ext cx="4489703" cy="-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Click the navigation arrows to move through the experiment.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553212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96E7D"/>
                </a:solidFill>
                <a:latin typeface="Aptos"/>
              </a:rPr>
              <a:t>Source: Cloud Computing Lab Manual — Experiment No. 5</a:t>
            </a:r>
          </a:p>
        </p:txBody>
      </p:sp>
      <p:sp>
        <p:nvSpPr>
          <p:cNvPr id="56" name="Rounded Rectangle 55">
            <a:hlinkClick action="ppaction://hlinksldjump" r:id="rId2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58" name="Rounded Rectangle 57">
            <a:hlinkClick action="ppaction://hlinksldjump" r:id="rId3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46C8"/>
                </a:solidFill>
                <a:latin typeface="Aptos"/>
              </a:rPr>
              <a:t>AIM &amp; EXPERIMENT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60120"/>
            <a:ext cx="525780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960120"/>
            <a:ext cx="525780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124712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1612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12471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673352"/>
            <a:ext cx="4855464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To simulate a cloud scenario using CloudSim and run a scheduling algorithm that is not present in CloudSim.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960120"/>
            <a:ext cx="5257800" cy="187451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80760" y="960120"/>
            <a:ext cx="5257800" cy="109728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45352" y="1124712"/>
            <a:ext cx="502920" cy="502920"/>
          </a:xfrm>
          <a:prstGeom prst="ellipse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1612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1124712"/>
            <a:ext cx="4343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82E6"/>
                </a:solidFill>
                <a:latin typeface="Aptos"/>
              </a:rPr>
              <a:t>CORE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673352"/>
            <a:ext cx="4855464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Eclipse IDE • CloudSim 3.0.3 • Apache Commons Math 3.x • Java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632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4360" y="3063240"/>
            <a:ext cx="338328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3227832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2644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22783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776472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Download the required packages and source files.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30632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063240"/>
            <a:ext cx="338328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25112" y="3227832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32644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322783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CONFIGURE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3776472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Create a Java project and attach the CloudSim source + external JAR.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6679" y="3063240"/>
            <a:ext cx="338328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26679" y="3063240"/>
            <a:ext cx="338328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891271" y="3227832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91271" y="326440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322783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EXECUTE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776472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Run CloudSimExample1 and observe the Eclipse console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4924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242B5C"/>
                </a:solidFill>
                <a:latin typeface="Aptos"/>
              </a:rPr>
              <a:t>Experiment flow: Download → Import → Configure → Build → Run → Verify</a:t>
            </a:r>
          </a:p>
        </p:txBody>
      </p:sp>
      <p:sp>
        <p:nvSpPr>
          <p:cNvPr id="38" name="Rounded Rectangle 37">
            <a:hlinkClick action="ppaction://hlinksldjump" r:id="rId2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40" name="Rounded Rectangle 39">
            <a:hlinkClick action="ppaction://hlinksldjump" r:id="rId3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06D-30F6-E67B-43F9-DB22E88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24C85-3C17-DC37-61A2-ECEFC84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382E6"/>
                </a:solidFill>
                <a:latin typeface="Aptos"/>
              </a:rPr>
              <a:t>DOWNLOAD THE REQUIRED 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94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24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060704"/>
            <a:ext cx="5230368" cy="2359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3456432"/>
            <a:ext cx="5175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Eclipse for Windows x86_64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94960" cy="2926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5.p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060704"/>
            <a:ext cx="5230368" cy="23591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3456432"/>
            <a:ext cx="5175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23"/>
                </a:solidFill>
                <a:latin typeface="Aptos"/>
              </a:rPr>
              <a:t>CloudSim + Commons Math 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106070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1060704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392" y="4325112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3616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4325112"/>
            <a:ext cx="9692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QUICK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73752"/>
            <a:ext cx="102047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Keep Eclipse, cloudsim-3.0.3 and commons-math3-3.6.1 extracted on the local machine before starting the project setup.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42B5C"/>
                </a:solidFill>
                <a:latin typeface="Aptos"/>
              </a:rPr>
              <a:t>Lab-manual sequence: Step 1 → Eclipse • Step 2 → CloudSim • Step 3 → Commons Math</a:t>
            </a:r>
          </a:p>
        </p:txBody>
      </p:sp>
      <p:sp>
        <p:nvSpPr>
          <p:cNvPr id="20" name="Rounded Rectangle 19">
            <a:hlinkClick action="ppaction://hlinksldjump" r:id="rId4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22" name="Rounded Rectangle 21">
            <a:hlinkClick action="ppaction://hlinksldjump" r:id="rId5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6446C8"/>
                </a:solidFill>
                <a:latin typeface="Aptos"/>
              </a:rPr>
              <a:t>CREATE THE CLOUDSIM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26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060704"/>
            <a:ext cx="5184648" cy="1856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46C8"/>
                </a:solidFill>
                <a:latin typeface="Aptos"/>
              </a:rPr>
              <a:t>Eclipse → File → New → Project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7.p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060704"/>
            <a:ext cx="5184648" cy="18562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Choose Java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338328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776472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77647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STEP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Open Eclipse and choose File → New → Project.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611880"/>
            <a:ext cx="3383280" cy="109728"/>
          </a:xfrm>
          <a:prstGeom prst="round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776472"/>
            <a:ext cx="502920" cy="50292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AA64"/>
                </a:solidFill>
                <a:latin typeface="Aptos"/>
              </a:rPr>
              <a:t>STEP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Select Java Project and click Next.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3611880"/>
            <a:ext cx="338328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1271" y="3776472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STEP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Set the project name to CloudSim and point to the extracted source.</a:t>
            </a:r>
          </a:p>
        </p:txBody>
      </p:sp>
      <p:sp>
        <p:nvSpPr>
          <p:cNvPr id="31" name="Rounded Rectangle 30">
            <a:hlinkClick action="ppaction://hlinksldjump" r:id="rId4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33" name="Rounded Rectangle 32">
            <a:hlinkClick action="ppaction://hlinksldjump" r:id="rId5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20040" y="1645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F58C23"/>
                </a:solidFill>
                <a:latin typeface="Aptos"/>
              </a:rPr>
              <a:t>SET THE PROJECT LOCATION &amp;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28.p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060704"/>
            <a:ext cx="5184648" cy="1901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99923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8C23"/>
                </a:solidFill>
                <a:latin typeface="Aptos"/>
              </a:rPr>
              <a:t>Select CloudSim source 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29.p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060704"/>
            <a:ext cx="5184648" cy="1901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99923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AA64"/>
                </a:solidFill>
                <a:latin typeface="Aptos"/>
              </a:rPr>
              <a:t>Project settings / source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03320"/>
            <a:ext cx="507492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703320"/>
            <a:ext cx="5074920" cy="109728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867911"/>
            <a:ext cx="502920" cy="502920"/>
          </a:xfrm>
          <a:prstGeom prst="ellipse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904487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867911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82E6"/>
                </a:solidFill>
                <a:latin typeface="Aptos"/>
              </a:rPr>
              <a:t>KEY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16552"/>
            <a:ext cx="46725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Unselect “Use default location” and browse to the folder where CloudSim was extracted.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3703320"/>
            <a:ext cx="507492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97880" y="3703320"/>
            <a:ext cx="507492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62472" y="3867911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3904487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867911"/>
            <a:ext cx="4160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9048" y="4416552"/>
            <a:ext cx="467258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Continue until the project structure shows folders such as bin, docs and examples.</a:t>
            </a:r>
          </a:p>
        </p:txBody>
      </p:sp>
      <p:sp>
        <p:nvSpPr>
          <p:cNvPr id="25" name="Rounded Rectangle 24">
            <a:hlinkClick action="ppaction://hlinksldjump" r:id="rId4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60FC9-5D5E-D1B8-5BD7-65EC6B92B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8D311-C9E8-1065-7BFB-9C33AE212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28600" y="16459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36AA64"/>
                </a:solidFill>
                <a:latin typeface="Aptos"/>
              </a:rPr>
              <a:t>ADD EXTERNAL JAR &amp; CONFIGURE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30.p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060704"/>
            <a:ext cx="5184648" cy="1856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AA64"/>
                </a:solidFill>
                <a:latin typeface="Aptos"/>
              </a:rPr>
              <a:t>Libraries → Add External JARs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423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31.png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060704"/>
            <a:ext cx="5184648" cy="18562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95351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Select commons-math3-3.x.jar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60" y="3611880"/>
            <a:ext cx="338328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776472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77647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STEP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Open the Libraries tab and choose Add External JARs if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46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60520" y="3611880"/>
            <a:ext cx="3383280" cy="109728"/>
          </a:xfrm>
          <a:prstGeom prst="roundRect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776472"/>
            <a:ext cx="502920" cy="502920"/>
          </a:xfrm>
          <a:prstGeom prst="ellipse">
            <a:avLst/>
          </a:prstGeom>
          <a:solidFill>
            <a:srgbClr val="EB46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B4687"/>
                </a:solidFill>
                <a:latin typeface="Aptos"/>
              </a:rPr>
              <a:t>STEP 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Browse to the Commons Math binary and select the JAR.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3611880"/>
            <a:ext cx="338328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26679" y="3611880"/>
            <a:ext cx="3383280" cy="109728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891271" y="3776472"/>
            <a:ext cx="502920" cy="502920"/>
          </a:xfrm>
          <a:prstGeom prst="ellipse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91271" y="3813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3776472"/>
            <a:ext cx="24688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446C8"/>
                </a:solidFill>
                <a:latin typeface="Aptos"/>
              </a:rPr>
              <a:t>STEP 14–15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7848" y="4325112"/>
            <a:ext cx="2980944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Confirm the JAR, click Finish, then let Eclipse build the project.</a:t>
            </a:r>
          </a:p>
        </p:txBody>
      </p:sp>
      <p:sp>
        <p:nvSpPr>
          <p:cNvPr id="31" name="Rounded Rectangle 30">
            <a:hlinkClick action="ppaction://hlinksldjump" r:id="rId5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219357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6446C8"/>
                </a:solidFill>
                <a:latin typeface="Aptos"/>
              </a:rPr>
              <a:t>INTERACTIVE CLOUDSIM LAB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698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978407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446C8"/>
                </a:solidFill>
                <a:latin typeface="Aptos"/>
              </a:rPr>
              <a:t>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441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Eclipse + CloudSim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0698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978407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382E6"/>
                </a:solidFill>
                <a:latin typeface="Aptos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3441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CloudSim + Commons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06984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978407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8C23"/>
                </a:solidFill>
                <a:latin typeface="Aptos"/>
              </a:rPr>
              <a:t>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3441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Java project: CloudSim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48716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39572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6AA64"/>
                </a:solidFill>
                <a:latin typeface="Aptos"/>
              </a:rPr>
              <a:t>Browse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614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Select extracted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8716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39572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B4687"/>
                </a:solidFill>
                <a:latin typeface="Aptos"/>
              </a:rPr>
              <a:t>Add JAR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7614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commons-math3-3.x.jar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487168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39572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B4BE"/>
                </a:solidFill>
                <a:latin typeface="Aptos"/>
              </a:rPr>
              <a:t>Finish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6148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Build &amp; configure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0448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81304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BE2D"/>
                </a:solidFill>
                <a:latin typeface="Aptos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7880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CloudSimExample1.java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390448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381304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42B5C"/>
                </a:solidFill>
                <a:latin typeface="Aptos"/>
              </a:rPr>
              <a:t>Run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417880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Run → Run / Ctrl+F11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904487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813048"/>
            <a:ext cx="2331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446C8"/>
                </a:solidFill>
                <a:latin typeface="Aptos"/>
              </a:rPr>
              <a:t>Verify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7880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3232D"/>
                </a:solidFill>
                <a:latin typeface="Aptos"/>
              </a:rPr>
              <a:t>Read console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13248"/>
            <a:ext cx="10515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242B5C"/>
                </a:solidFill>
                <a:latin typeface="Aptos"/>
              </a:rPr>
              <a:t>RUN:  CloudsimExample1.java   →   Run / Ctrl+F11   →   Eclipse Console Output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  <p:sp>
        <p:nvSpPr>
          <p:cNvPr id="37" name="Rounded Rectangle 36">
            <a:hlinkClick action="ppaction://hlinksldjump" r:id="rId4"/>
          </p:cNvPr>
          <p:cNvSpPr/>
          <p:nvPr/>
        </p:nvSpPr>
        <p:spPr>
          <a:xfrm>
            <a:off x="10442448" y="5806440"/>
            <a:ext cx="658368" cy="347472"/>
          </a:xfrm>
          <a:prstGeom prst="roundRect">
            <a:avLst/>
          </a:prstGeom>
          <a:solidFill>
            <a:srgbClr val="238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3BD1-05A0-C114-3824-A22E1DE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07-08-2026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F5297-F9B2-43BC-E08D-83131C1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411480" y="16459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B4687"/>
                </a:solidFill>
                <a:latin typeface="Aptos"/>
              </a:rPr>
              <a:t>EXECUTION, OUTPUT &amp; RESULT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914400"/>
            <a:ext cx="5349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8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-32.png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060704"/>
            <a:ext cx="5184648" cy="17647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" y="286207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382E6"/>
                </a:solidFill>
                <a:latin typeface="Aptos"/>
              </a:rPr>
              <a:t>CloudSim project structure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914400"/>
            <a:ext cx="534924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44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-33.png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060704"/>
            <a:ext cx="5184648" cy="17647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90488" y="2862072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446C8"/>
                </a:solidFill>
                <a:latin typeface="Aptos"/>
              </a:rPr>
              <a:t>Open &amp; run CloudSimExample1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93008"/>
            <a:ext cx="53492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ge-34.png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3639312"/>
            <a:ext cx="5184648" cy="13990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12648" y="5074920"/>
            <a:ext cx="512978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6AA64"/>
                </a:solidFill>
                <a:latin typeface="Aptos"/>
              </a:rPr>
              <a:t>Eclipse console execution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493008"/>
            <a:ext cx="53492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8C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80760" y="3493008"/>
            <a:ext cx="5349240" cy="109728"/>
          </a:xfrm>
          <a:prstGeom prst="roundRect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45352" y="3657600"/>
            <a:ext cx="502920" cy="502920"/>
          </a:xfrm>
          <a:prstGeom prst="ellipse">
            <a:avLst/>
          </a:prstGeom>
          <a:solidFill>
            <a:srgbClr val="F58C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3694176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0568" y="3657600"/>
            <a:ext cx="4434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8C23"/>
                </a:solidFill>
                <a:latin typeface="Aptos"/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206240"/>
            <a:ext cx="4946903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3232D"/>
                </a:solidFill>
                <a:latin typeface="Aptos"/>
              </a:rPr>
              <a:t>Thus, the CloudSim scenario is simulated using the Eclipse environment successfully.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4241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242B5C"/>
                </a:solidFill>
                <a:latin typeface="Aptos"/>
              </a:rPr>
              <a:t>Final check: Project builds → Example opens → Run completes → Console displays the simulation output</a:t>
            </a:r>
          </a:p>
        </p:txBody>
      </p:sp>
      <p:sp>
        <p:nvSpPr>
          <p:cNvPr id="23" name="Rounded Rectangle 22">
            <a:hlinkClick action="ppaction://hlinksldjump" r:id="rId6"/>
          </p:cNvPr>
          <p:cNvSpPr/>
          <p:nvPr/>
        </p:nvSpPr>
        <p:spPr>
          <a:xfrm>
            <a:off x="9738360" y="5806440"/>
            <a:ext cx="658368" cy="347472"/>
          </a:xfrm>
          <a:prstGeom prst="roundRect">
            <a:avLst/>
          </a:prstGeom>
          <a:solidFill>
            <a:srgbClr val="644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5833872"/>
            <a:ext cx="6583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‹</a:t>
            </a:r>
          </a:p>
        </p:txBody>
      </p:sp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